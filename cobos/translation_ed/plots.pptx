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321" r:id="rId2"/>
    <p:sldId id="412" r:id="rId3"/>
    <p:sldId id="413" r:id="rId4"/>
    <p:sldId id="414" r:id="rId5"/>
    <p:sldId id="415" r:id="rId6"/>
    <p:sldId id="416" r:id="rId7"/>
    <p:sldId id="418" r:id="rId8"/>
    <p:sldId id="417" r:id="rId9"/>
    <p:sldId id="419" r:id="rId10"/>
    <p:sldId id="420" r:id="rId11"/>
    <p:sldId id="421" r:id="rId12"/>
    <p:sldId id="425" r:id="rId13"/>
    <p:sldId id="426" r:id="rId14"/>
    <p:sldId id="427" r:id="rId15"/>
    <p:sldId id="422" r:id="rId16"/>
    <p:sldId id="423" r:id="rId17"/>
    <p:sldId id="424" r:id="rId18"/>
    <p:sldId id="41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4FF"/>
    <a:srgbClr val="FF00A2"/>
    <a:srgbClr val="60B11F"/>
    <a:srgbClr val="F4C981"/>
    <a:srgbClr val="E0706F"/>
    <a:srgbClr val="57B955"/>
    <a:srgbClr val="78B86A"/>
    <a:srgbClr val="68ED8A"/>
    <a:srgbClr val="00D63D"/>
    <a:srgbClr val="00C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60" autoAdjust="0"/>
    <p:restoredTop sz="94636"/>
  </p:normalViewPr>
  <p:slideViewPr>
    <p:cSldViewPr snapToGrid="0">
      <p:cViewPr varScale="1">
        <p:scale>
          <a:sx n="165" d="100"/>
          <a:sy n="165" d="100"/>
        </p:scale>
        <p:origin x="23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4AB537-3B93-4497-AC59-984FCAC3CBB6}" type="datetimeFigureOut">
              <a:rPr lang="en-US" smtClean="0"/>
              <a:t>3/12/24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6FB95-5C70-431A-8934-E391461DA8D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97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6FB95-5C70-431A-8934-E391461DA8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43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6FB95-5C70-431A-8934-E391461DA8D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459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6FB95-5C70-431A-8934-E391461DA8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76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6FB95-5C70-431A-8934-E391461DA8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26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6FB95-5C70-431A-8934-E391461DA8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453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6FB95-5C70-431A-8934-E391461DA8D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34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6FB95-5C70-431A-8934-E391461DA8D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581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6FB95-5C70-431A-8934-E391461DA8D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561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6FB95-5C70-431A-8934-E391461DA8D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039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6FB95-5C70-431A-8934-E391461DA8D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913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6FB95-5C70-431A-8934-E391461DA8D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249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6FB95-5C70-431A-8934-E391461DA8D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55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6FB95-5C70-431A-8934-E391461DA8D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329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6FB95-5C70-431A-8934-E391461DA8D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5501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6FB95-5C70-431A-8934-E391461DA8D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631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6FB95-5C70-431A-8934-E391461DA8D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75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CACA9-D68E-4A44-9F0B-9FC4786DBF15}" type="datetime1">
              <a:rPr lang="es-ES" smtClean="0"/>
              <a:t>12/3/24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on Quantum Filters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16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1FBF4-615E-8E4C-A9AA-54FDB3CE51C3}" type="datetime1">
              <a:rPr lang="es-ES" smtClean="0"/>
              <a:t>12/3/24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on Quantum Filters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38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38D1-31DC-0349-9398-B924A5EE352A}" type="datetime1">
              <a:rPr lang="es-ES" smtClean="0"/>
              <a:t>12/3/24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on Quantum Filters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56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4E9D4-4662-B242-9C74-18E61D397746}" type="datetime1">
              <a:rPr lang="es-ES" smtClean="0"/>
              <a:t>12/3/24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on Quantum Filters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007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B2EB1-3C67-1540-8100-B326EA17DE85}" type="datetime1">
              <a:rPr lang="es-ES" smtClean="0"/>
              <a:t>12/3/24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on Quantum Filters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62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B4A9E-F108-8A44-B55C-24993DF9D31A}" type="datetime1">
              <a:rPr lang="es-ES" smtClean="0"/>
              <a:t>12/3/24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on Quantum Filters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818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61FBC-16C8-6348-9AE1-10A444C8279C}" type="datetime1">
              <a:rPr lang="es-ES" smtClean="0"/>
              <a:t>12/3/24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on Quantum Filters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19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0C1CF-2CF6-CF42-9DE0-01914EA6F1A5}" type="datetime1">
              <a:rPr lang="es-ES" smtClean="0"/>
              <a:t>12/3/24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on Quantum Filters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64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564D3-7D9F-304E-9504-A8E18C7F37A9}" type="datetime1">
              <a:rPr lang="es-ES" smtClean="0"/>
              <a:t>12/3/24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on Quantum Filters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524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E20B2-7CA9-B443-BA41-DC10A63CE944}" type="datetime1">
              <a:rPr lang="es-ES" smtClean="0"/>
              <a:t>12/3/24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on Quantum Filters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1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9C79F-3627-8447-B530-5F6788BFDF1F}" type="datetime1">
              <a:rPr lang="es-ES" smtClean="0"/>
              <a:t>12/3/24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on Quantum Filters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812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47000">
              <a:srgbClr val="9FC0F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40545-9483-914C-A674-2129885788FD}" type="datetime1">
              <a:rPr lang="es-ES" smtClean="0"/>
              <a:t>12/3/24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Progress on Quantum Filters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7A6D5-4E3D-4EE5-8494-6B99A6CC0F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83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19399" y="1266137"/>
            <a:ext cx="10450284" cy="1954296"/>
          </a:xfrm>
        </p:spPr>
        <p:txBody>
          <a:bodyPr anchor="ctr">
            <a:noAutofit/>
          </a:bodyPr>
          <a:lstStyle/>
          <a:p>
            <a:r>
              <a:rPr lang="en-US" sz="8800" dirty="0">
                <a:latin typeface="Georgia" panose="02040502050405020303" pitchFamily="18" charset="0"/>
              </a:rPr>
              <a:t>Entropies plots</a:t>
            </a:r>
          </a:p>
        </p:txBody>
      </p:sp>
      <p:cxnSp>
        <p:nvCxnSpPr>
          <p:cNvPr id="7" name="Conector recto 6"/>
          <p:cNvCxnSpPr/>
          <p:nvPr/>
        </p:nvCxnSpPr>
        <p:spPr>
          <a:xfrm flipV="1">
            <a:off x="1092530" y="3368075"/>
            <a:ext cx="99040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/>
          <p:cNvCxnSpPr/>
          <p:nvPr/>
        </p:nvCxnSpPr>
        <p:spPr>
          <a:xfrm flipV="1">
            <a:off x="1092529" y="1204768"/>
            <a:ext cx="99040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/>
          <p:cNvSpPr txBox="1"/>
          <p:nvPr/>
        </p:nvSpPr>
        <p:spPr>
          <a:xfrm>
            <a:off x="3411185" y="3628103"/>
            <a:ext cx="5266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dirty="0">
                <a:latin typeface="Georgia" panose="02040502050405020303" pitchFamily="18" charset="0"/>
              </a:rPr>
              <a:t>Jesús Cobos Jiménez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3188523" y="4850253"/>
            <a:ext cx="5712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Georgia" panose="02040502050405020303" pitchFamily="18" charset="0"/>
              </a:rPr>
              <a:t>Universidad del País Vasco/</a:t>
            </a:r>
          </a:p>
          <a:p>
            <a:pPr algn="ctr"/>
            <a:r>
              <a:rPr lang="eu-ES" i="1" dirty="0">
                <a:latin typeface="Georgia" panose="02040502050405020303" pitchFamily="18" charset="0"/>
              </a:rPr>
              <a:t>Euskal Herriko Unibertsitatea</a:t>
            </a:r>
          </a:p>
        </p:txBody>
      </p:sp>
      <p:pic>
        <p:nvPicPr>
          <p:cNvPr id="9" name="Imagen 8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2F3D5D3-094B-D483-DD9A-99D8114848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105" y="5683681"/>
            <a:ext cx="2591790" cy="55002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71FCD37-7F30-60B8-BEBD-11E77C94FC2E}"/>
              </a:ext>
            </a:extLst>
          </p:cNvPr>
          <p:cNvSpPr txBox="1"/>
          <p:nvPr/>
        </p:nvSpPr>
        <p:spPr>
          <a:xfrm>
            <a:off x="3299476" y="4326647"/>
            <a:ext cx="5601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latin typeface="Georgia" panose="02040502050405020303" pitchFamily="18" charset="0"/>
              </a:rPr>
              <a:t>12/03/24</a:t>
            </a:r>
            <a:endParaRPr lang="en-US" sz="2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027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7D68ADE-8647-A290-CE6C-11D0B447186D}"/>
              </a:ext>
            </a:extLst>
          </p:cNvPr>
          <p:cNvCxnSpPr/>
          <p:nvPr/>
        </p:nvCxnSpPr>
        <p:spPr>
          <a:xfrm>
            <a:off x="968826" y="1107702"/>
            <a:ext cx="12300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55EF8C18-E18B-C7C9-888C-51FDF7BCE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012"/>
            <a:ext cx="10515600" cy="1325563"/>
          </a:xfrm>
        </p:spPr>
        <p:txBody>
          <a:bodyPr>
            <a:normAutofit/>
          </a:bodyPr>
          <a:lstStyle/>
          <a:p>
            <a:r>
              <a:rPr lang="en-US" sz="3800" dirty="0">
                <a:latin typeface="Georgia" panose="02040502050405020303" pitchFamily="18" charset="0"/>
              </a:rPr>
              <a:t>1. Recap of what I was doing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2E235EA-CA49-54ED-7F66-6EBFE5ED31ED}"/>
              </a:ext>
            </a:extLst>
          </p:cNvPr>
          <p:cNvSpPr txBox="1"/>
          <p:nvPr/>
        </p:nvSpPr>
        <p:spPr>
          <a:xfrm>
            <a:off x="906833" y="1185622"/>
            <a:ext cx="10089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Georgia" panose="02040502050405020303" pitchFamily="18" charset="0"/>
              </a:rPr>
              <a:t>We were struggling with the sign in front of the XXZ Hamiltonian because for odd chains these two Hamiltonians are not equivalent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DD0917B-7DBF-4602-B22A-356A3A8A8B5B}"/>
                  </a:ext>
                </a:extLst>
              </p:cNvPr>
              <p:cNvSpPr txBox="1"/>
              <p:nvPr/>
            </p:nvSpPr>
            <p:spPr>
              <a:xfrm>
                <a:off x="1031928" y="1726079"/>
                <a:ext cx="4564251" cy="689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=+</m:t>
                      </m:r>
                      <m:nary>
                        <m:naryPr>
                          <m:chr m:val="∑"/>
                          <m:supHide m:val="on"/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E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s-ES" sz="16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ES" sz="160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160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160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160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1600" dirty="0">
                  <a:latin typeface="Georgia" panose="02040502050405020303" pitchFamily="18" charset="0"/>
                </a:endParaRPr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DD0917B-7DBF-4602-B22A-356A3A8A8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28" y="1726079"/>
                <a:ext cx="4564251" cy="689804"/>
              </a:xfrm>
              <a:prstGeom prst="rect">
                <a:avLst/>
              </a:prstGeom>
              <a:blipFill>
                <a:blip r:embed="rId3"/>
                <a:stretch>
                  <a:fillRect t="-119643" b="-1696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BB0CD39-0A92-2EDD-12E4-64F1E0A56185}"/>
                  </a:ext>
                </a:extLst>
              </p:cNvPr>
              <p:cNvSpPr txBox="1"/>
              <p:nvPr/>
            </p:nvSpPr>
            <p:spPr>
              <a:xfrm>
                <a:off x="5596179" y="1762648"/>
                <a:ext cx="4564251" cy="689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E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s-ES" sz="16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ES" sz="160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160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160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160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1600" dirty="0">
                  <a:latin typeface="Georgia" panose="02040502050405020303" pitchFamily="18" charset="0"/>
                </a:endParaRPr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BB0CD39-0A92-2EDD-12E4-64F1E0A56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179" y="1762648"/>
                <a:ext cx="4564251" cy="689804"/>
              </a:xfrm>
              <a:prstGeom prst="rect">
                <a:avLst/>
              </a:prstGeom>
              <a:blipFill>
                <a:blip r:embed="rId4"/>
                <a:stretch>
                  <a:fillRect t="-121818" b="-17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C144822B-94C6-252E-CFFC-A2AB7B6D5892}"/>
              </a:ext>
            </a:extLst>
          </p:cNvPr>
          <p:cNvSpPr txBox="1"/>
          <p:nvPr/>
        </p:nvSpPr>
        <p:spPr>
          <a:xfrm>
            <a:off x="968826" y="2493160"/>
            <a:ext cx="10089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Georgia" panose="02040502050405020303" pitchFamily="18" charset="0"/>
              </a:rPr>
              <a:t>We wanted to know whether the entanglement entropy behaves similarly in both cases.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434F6C02-8212-942D-EF99-70C30BF5CACB}"/>
                  </a:ext>
                </a:extLst>
              </p:cNvPr>
              <p:cNvSpPr txBox="1"/>
              <p:nvPr/>
            </p:nvSpPr>
            <p:spPr>
              <a:xfrm>
                <a:off x="968826" y="2794932"/>
                <a:ext cx="1008921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latin typeface="Georgia" panose="02040502050405020303" pitchFamily="18" charset="0"/>
                  </a:rPr>
                  <a:t>The problem was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GB" sz="1600" dirty="0">
                    <a:latin typeface="Georgia" panose="02040502050405020303" pitchFamily="18" charset="0"/>
                  </a:rPr>
                  <a:t> presents a 4-fold degeneracy of the ground state for </a:t>
                </a:r>
                <a14:m>
                  <m:oMath xmlns:m="http://schemas.openxmlformats.org/officeDocument/2006/math">
                    <m:r>
                      <a:rPr lang="es-ES" sz="1600" b="0" i="0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s-ES" sz="16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GB" sz="1600" dirty="0">
                    <a:latin typeface="Georgia" panose="02040502050405020303" pitchFamily="18" charset="0"/>
                  </a:rPr>
                  <a:t> instead of 2-fold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GB" sz="1600" dirty="0">
                    <a:latin typeface="Georgia" panose="02040502050405020303" pitchFamily="18" charset="0"/>
                  </a:rPr>
                  <a:t> does. This degeneracy is broken working in a translational invariant basis.</a:t>
                </a:r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434F6C02-8212-942D-EF99-70C30BF5C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826" y="2794932"/>
                <a:ext cx="10089215" cy="584775"/>
              </a:xfrm>
              <a:prstGeom prst="rect">
                <a:avLst/>
              </a:prstGeom>
              <a:blipFill>
                <a:blip r:embed="rId5"/>
                <a:stretch>
                  <a:fillRect l="-377" t="-2128" b="-148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uadroTexto 10">
            <a:extLst>
              <a:ext uri="{FF2B5EF4-FFF2-40B4-BE49-F238E27FC236}">
                <a16:creationId xmlns:a16="http://schemas.microsoft.com/office/drawing/2014/main" id="{4308EED8-CB9B-DA70-0C88-09A8674C8D60}"/>
              </a:ext>
            </a:extLst>
          </p:cNvPr>
          <p:cNvSpPr txBox="1"/>
          <p:nvPr/>
        </p:nvSpPr>
        <p:spPr>
          <a:xfrm>
            <a:off x="1583869" y="4457838"/>
            <a:ext cx="13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Georgia" panose="02040502050405020303" pitchFamily="18" charset="0"/>
              </a:rPr>
              <a:t>4-fold </a:t>
            </a:r>
            <a:r>
              <a:rPr lang="en-GB" dirty="0" err="1">
                <a:latin typeface="Georgia" panose="02040502050405020303" pitchFamily="18" charset="0"/>
              </a:rPr>
              <a:t>deg</a:t>
            </a:r>
            <a:endParaRPr lang="en-GB" dirty="0">
              <a:latin typeface="Georgia" panose="02040502050405020303" pitchFamily="18" charset="0"/>
            </a:endParaRPr>
          </a:p>
        </p:txBody>
      </p:sp>
      <p:sp>
        <p:nvSpPr>
          <p:cNvPr id="14" name="Abrir llave 13">
            <a:extLst>
              <a:ext uri="{FF2B5EF4-FFF2-40B4-BE49-F238E27FC236}">
                <a16:creationId xmlns:a16="http://schemas.microsoft.com/office/drawing/2014/main" id="{95945DA5-0AD3-A5E6-7486-8861D3C02B45}"/>
              </a:ext>
            </a:extLst>
          </p:cNvPr>
          <p:cNvSpPr/>
          <p:nvPr/>
        </p:nvSpPr>
        <p:spPr>
          <a:xfrm>
            <a:off x="2797444" y="4072941"/>
            <a:ext cx="185980" cy="121198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C5B92F7-B25B-B0B3-BB80-AF7E0EC68328}"/>
              </a:ext>
            </a:extLst>
          </p:cNvPr>
          <p:cNvSpPr txBox="1"/>
          <p:nvPr/>
        </p:nvSpPr>
        <p:spPr>
          <a:xfrm>
            <a:off x="4146255" y="3853384"/>
            <a:ext cx="13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Georgia" panose="02040502050405020303" pitchFamily="18" charset="0"/>
              </a:rPr>
              <a:t>2-fold </a:t>
            </a:r>
            <a:r>
              <a:rPr lang="en-GB" dirty="0" err="1">
                <a:latin typeface="Georgia" panose="02040502050405020303" pitchFamily="18" charset="0"/>
              </a:rPr>
              <a:t>deg</a:t>
            </a:r>
            <a:endParaRPr lang="en-GB" dirty="0">
              <a:latin typeface="Georgia" panose="02040502050405020303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00E4AD0-88B3-01DC-C60D-BC8839A0DEC7}"/>
              </a:ext>
            </a:extLst>
          </p:cNvPr>
          <p:cNvSpPr txBox="1"/>
          <p:nvPr/>
        </p:nvSpPr>
        <p:spPr>
          <a:xfrm>
            <a:off x="4177251" y="5092934"/>
            <a:ext cx="13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Georgia" panose="02040502050405020303" pitchFamily="18" charset="0"/>
              </a:rPr>
              <a:t>2-fold </a:t>
            </a:r>
            <a:r>
              <a:rPr lang="en-GB" dirty="0" err="1">
                <a:latin typeface="Georgia" panose="02040502050405020303" pitchFamily="18" charset="0"/>
              </a:rPr>
              <a:t>deg</a:t>
            </a:r>
            <a:endParaRPr lang="en-GB" dirty="0"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05590F8A-6AAF-2879-F8B0-7CBF1375812B}"/>
                  </a:ext>
                </a:extLst>
              </p:cNvPr>
              <p:cNvSpPr txBox="1"/>
              <p:nvPr/>
            </p:nvSpPr>
            <p:spPr>
              <a:xfrm>
                <a:off x="3060321" y="3926692"/>
                <a:ext cx="9489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r>
                  <a:rPr lang="en-GB" dirty="0"/>
                  <a:t>:</a:t>
                </a:r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05590F8A-6AAF-2879-F8B0-7CBF13758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321" y="3926692"/>
                <a:ext cx="948914" cy="276999"/>
              </a:xfrm>
              <a:prstGeom prst="rect">
                <a:avLst/>
              </a:prstGeom>
              <a:blipFill>
                <a:blip r:embed="rId6"/>
                <a:stretch>
                  <a:fillRect l="-7895" t="-26087" r="-14474" b="-478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92EAF3C3-A333-C743-6876-4943772ACF47}"/>
                  </a:ext>
                </a:extLst>
              </p:cNvPr>
              <p:cNvSpPr txBox="1"/>
              <p:nvPr/>
            </p:nvSpPr>
            <p:spPr>
              <a:xfrm>
                <a:off x="3060321" y="5146421"/>
                <a:ext cx="11124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=−1/2</m:t>
                    </m:r>
                  </m:oMath>
                </a14:m>
                <a:r>
                  <a:rPr lang="en-GB" dirty="0"/>
                  <a:t>:</a:t>
                </a:r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92EAF3C3-A333-C743-6876-4943772AC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321" y="5146421"/>
                <a:ext cx="1112420" cy="276999"/>
              </a:xfrm>
              <a:prstGeom prst="rect">
                <a:avLst/>
              </a:prstGeom>
              <a:blipFill>
                <a:blip r:embed="rId7"/>
                <a:stretch>
                  <a:fillRect l="-6742" t="-26087" r="-12360" b="-478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brir llave 21">
            <a:extLst>
              <a:ext uri="{FF2B5EF4-FFF2-40B4-BE49-F238E27FC236}">
                <a16:creationId xmlns:a16="http://schemas.microsoft.com/office/drawing/2014/main" id="{9299EA52-B86D-F8F8-A3BA-82670558C0B4}"/>
              </a:ext>
            </a:extLst>
          </p:cNvPr>
          <p:cNvSpPr/>
          <p:nvPr/>
        </p:nvSpPr>
        <p:spPr>
          <a:xfrm>
            <a:off x="5375328" y="4828189"/>
            <a:ext cx="185980" cy="100894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brir llave 22">
            <a:extLst>
              <a:ext uri="{FF2B5EF4-FFF2-40B4-BE49-F238E27FC236}">
                <a16:creationId xmlns:a16="http://schemas.microsoft.com/office/drawing/2014/main" id="{951D4854-29AB-F81C-D2EA-8D5FAC86FF0D}"/>
              </a:ext>
            </a:extLst>
          </p:cNvPr>
          <p:cNvSpPr/>
          <p:nvPr/>
        </p:nvSpPr>
        <p:spPr>
          <a:xfrm>
            <a:off x="5344332" y="3547505"/>
            <a:ext cx="185980" cy="100894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032DF76F-E862-CA32-0213-B962F604BBDF}"/>
                  </a:ext>
                </a:extLst>
              </p:cNvPr>
              <p:cNvSpPr txBox="1"/>
              <p:nvPr/>
            </p:nvSpPr>
            <p:spPr>
              <a:xfrm>
                <a:off x="5595861" y="3430876"/>
                <a:ext cx="7111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032DF76F-E862-CA32-0213-B962F604B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861" y="3430876"/>
                <a:ext cx="711157" cy="276999"/>
              </a:xfrm>
              <a:prstGeom prst="rect">
                <a:avLst/>
              </a:prstGeom>
              <a:blipFill>
                <a:blip r:embed="rId8"/>
                <a:stretch>
                  <a:fillRect l="-7018" r="-7018" b="-181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45F23B12-0D18-C53F-3063-C9B9EF4A0C0D}"/>
                  </a:ext>
                </a:extLst>
              </p:cNvPr>
              <p:cNvSpPr txBox="1"/>
              <p:nvPr/>
            </p:nvSpPr>
            <p:spPr>
              <a:xfrm>
                <a:off x="5572932" y="4347709"/>
                <a:ext cx="7164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45F23B12-0D18-C53F-3063-C9B9EF4A0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932" y="4347709"/>
                <a:ext cx="716478" cy="276999"/>
              </a:xfrm>
              <a:prstGeom prst="rect">
                <a:avLst/>
              </a:prstGeom>
              <a:blipFill>
                <a:blip r:embed="rId9"/>
                <a:stretch>
                  <a:fillRect l="-6897" r="-6897" b="-13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D7486239-7429-4952-E9F7-C30BB2C5BCCF}"/>
                  </a:ext>
                </a:extLst>
              </p:cNvPr>
              <p:cNvSpPr txBox="1"/>
              <p:nvPr/>
            </p:nvSpPr>
            <p:spPr>
              <a:xfrm>
                <a:off x="5590546" y="4694571"/>
                <a:ext cx="7111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D7486239-7429-4952-E9F7-C30BB2C5B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546" y="4694571"/>
                <a:ext cx="711157" cy="276999"/>
              </a:xfrm>
              <a:prstGeom prst="rect">
                <a:avLst/>
              </a:prstGeom>
              <a:blipFill>
                <a:blip r:embed="rId10"/>
                <a:stretch>
                  <a:fillRect l="-8772" r="-7018" b="-13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7E52B37-EA94-B5F7-4626-2397BB5E41A0}"/>
                  </a:ext>
                </a:extLst>
              </p:cNvPr>
              <p:cNvSpPr txBox="1"/>
              <p:nvPr/>
            </p:nvSpPr>
            <p:spPr>
              <a:xfrm>
                <a:off x="5582796" y="5696765"/>
                <a:ext cx="7111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7E52B37-EA94-B5F7-4626-2397BB5E4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2796" y="5696765"/>
                <a:ext cx="711157" cy="276999"/>
              </a:xfrm>
              <a:prstGeom prst="rect">
                <a:avLst/>
              </a:prstGeom>
              <a:blipFill>
                <a:blip r:embed="rId11"/>
                <a:stretch>
                  <a:fillRect l="-7018" r="-7018" b="-13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CuadroTexto 27">
            <a:extLst>
              <a:ext uri="{FF2B5EF4-FFF2-40B4-BE49-F238E27FC236}">
                <a16:creationId xmlns:a16="http://schemas.microsoft.com/office/drawing/2014/main" id="{EF2E9993-39FC-DE88-411E-F47F129F6C01}"/>
              </a:ext>
            </a:extLst>
          </p:cNvPr>
          <p:cNvSpPr txBox="1"/>
          <p:nvPr/>
        </p:nvSpPr>
        <p:spPr>
          <a:xfrm>
            <a:off x="6591509" y="3370396"/>
            <a:ext cx="13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Georgia" panose="02040502050405020303" pitchFamily="18" charset="0"/>
              </a:rPr>
              <a:t>No </a:t>
            </a:r>
            <a:r>
              <a:rPr lang="en-GB" dirty="0" err="1">
                <a:latin typeface="Georgia" panose="02040502050405020303" pitchFamily="18" charset="0"/>
              </a:rPr>
              <a:t>deg</a:t>
            </a:r>
            <a:endParaRPr lang="en-GB" dirty="0">
              <a:latin typeface="Georgia" panose="02040502050405020303" pitchFamily="18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BA0FC3D-C35D-0F38-820E-ECDE679E4291}"/>
              </a:ext>
            </a:extLst>
          </p:cNvPr>
          <p:cNvSpPr txBox="1"/>
          <p:nvPr/>
        </p:nvSpPr>
        <p:spPr>
          <a:xfrm>
            <a:off x="6587237" y="4284281"/>
            <a:ext cx="13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Georgia" panose="02040502050405020303" pitchFamily="18" charset="0"/>
              </a:rPr>
              <a:t>No </a:t>
            </a:r>
            <a:r>
              <a:rPr lang="en-GB" dirty="0" err="1">
                <a:latin typeface="Georgia" panose="02040502050405020303" pitchFamily="18" charset="0"/>
              </a:rPr>
              <a:t>deg</a:t>
            </a:r>
            <a:endParaRPr lang="en-GB" dirty="0">
              <a:latin typeface="Georgia" panose="02040502050405020303" pitchFamily="18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1FF0085-961E-53B9-8A96-56AD4896B5FA}"/>
              </a:ext>
            </a:extLst>
          </p:cNvPr>
          <p:cNvSpPr txBox="1"/>
          <p:nvPr/>
        </p:nvSpPr>
        <p:spPr>
          <a:xfrm>
            <a:off x="6587237" y="4669427"/>
            <a:ext cx="13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Georgia" panose="02040502050405020303" pitchFamily="18" charset="0"/>
              </a:rPr>
              <a:t>No </a:t>
            </a:r>
            <a:r>
              <a:rPr lang="en-GB" dirty="0" err="1">
                <a:latin typeface="Georgia" panose="02040502050405020303" pitchFamily="18" charset="0"/>
              </a:rPr>
              <a:t>deg</a:t>
            </a:r>
            <a:endParaRPr lang="en-GB" dirty="0">
              <a:latin typeface="Georgia" panose="02040502050405020303" pitchFamily="18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8CEDC59-3139-3042-7C54-AFBF8FA5F327}"/>
              </a:ext>
            </a:extLst>
          </p:cNvPr>
          <p:cNvSpPr txBox="1"/>
          <p:nvPr/>
        </p:nvSpPr>
        <p:spPr>
          <a:xfrm>
            <a:off x="6587237" y="5656114"/>
            <a:ext cx="13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Georgia" panose="02040502050405020303" pitchFamily="18" charset="0"/>
              </a:rPr>
              <a:t>No </a:t>
            </a:r>
            <a:r>
              <a:rPr lang="en-GB" dirty="0" err="1">
                <a:latin typeface="Georgia" panose="02040502050405020303" pitchFamily="18" charset="0"/>
              </a:rPr>
              <a:t>deg</a:t>
            </a:r>
            <a:endParaRPr lang="en-GB" dirty="0">
              <a:latin typeface="Georgia" panose="02040502050405020303" pitchFamily="18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A3D030C-D982-48E0-E076-EFCF72B98026}"/>
              </a:ext>
            </a:extLst>
          </p:cNvPr>
          <p:cNvSpPr txBox="1"/>
          <p:nvPr/>
        </p:nvSpPr>
        <p:spPr>
          <a:xfrm>
            <a:off x="8214558" y="4486208"/>
            <a:ext cx="774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Georgia" panose="02040502050405020303" pitchFamily="18" charset="0"/>
              </a:rPr>
              <a:t>k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3DB8BD50-67C5-94CD-1654-7D068AB7BE29}"/>
              </a:ext>
            </a:extLst>
          </p:cNvPr>
          <p:cNvCxnSpPr/>
          <p:nvPr/>
        </p:nvCxnSpPr>
        <p:spPr>
          <a:xfrm>
            <a:off x="8524069" y="4684925"/>
            <a:ext cx="3099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93E5C74-F6A2-AD47-01D6-346E9163273B}"/>
              </a:ext>
            </a:extLst>
          </p:cNvPr>
          <p:cNvSpPr txBox="1"/>
          <p:nvPr/>
        </p:nvSpPr>
        <p:spPr>
          <a:xfrm>
            <a:off x="8896532" y="4402183"/>
            <a:ext cx="2543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Georgia" panose="02040502050405020303" pitchFamily="18" charset="0"/>
              </a:rPr>
              <a:t>Quasi-momentum quantum </a:t>
            </a:r>
            <a:r>
              <a:rPr lang="en-GB" sz="1600" dirty="0" err="1">
                <a:latin typeface="Georgia" panose="02040502050405020303" pitchFamily="18" charset="0"/>
              </a:rPr>
              <a:t>nuber</a:t>
            </a:r>
            <a:endParaRPr lang="en-GB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337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7D68ADE-8647-A290-CE6C-11D0B447186D}"/>
              </a:ext>
            </a:extLst>
          </p:cNvPr>
          <p:cNvCxnSpPr/>
          <p:nvPr/>
        </p:nvCxnSpPr>
        <p:spPr>
          <a:xfrm>
            <a:off x="968826" y="1107702"/>
            <a:ext cx="12300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55EF8C18-E18B-C7C9-888C-51FDF7BCE21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2012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3800" dirty="0">
                    <a:latin typeface="Georgia" panose="02040502050405020303" pitchFamily="18" charset="0"/>
                  </a:rPr>
                  <a:t>2. </a:t>
                </a:r>
                <a:r>
                  <a:rPr lang="en-US" sz="3800" dirty="0" err="1">
                    <a:latin typeface="Georgia" panose="02040502050405020303" pitchFamily="18" charset="0"/>
                  </a:rPr>
                  <a:t>Rènyi</a:t>
                </a:r>
                <a:r>
                  <a:rPr lang="en-US" sz="3800" dirty="0">
                    <a:latin typeface="Georgia" panose="02040502050405020303" pitchFamily="18" charset="0"/>
                  </a:rPr>
                  <a:t> entropy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4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s-ES" sz="38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ES" sz="3800" b="0" i="1" smtClean="0">
                        <a:latin typeface="Cambria Math" panose="02040503050406030204" pitchFamily="18" charset="0"/>
                      </a:rPr>
                      <m:t>∈[11, 23]</m:t>
                    </m:r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 odd.</a:t>
                </a:r>
              </a:p>
            </p:txBody>
          </p:sp>
        </mc:Choice>
        <mc:Fallback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55EF8C18-E18B-C7C9-888C-51FDF7BCE2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2012"/>
                <a:ext cx="10515600" cy="1325563"/>
              </a:xfrm>
              <a:blipFill>
                <a:blip r:embed="rId3"/>
                <a:stretch>
                  <a:fillRect l="-2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n 9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824D00FF-2C32-0987-F9FC-8820EC0C6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558" y="1618115"/>
            <a:ext cx="6680416" cy="445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612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7D68ADE-8647-A290-CE6C-11D0B447186D}"/>
              </a:ext>
            </a:extLst>
          </p:cNvPr>
          <p:cNvCxnSpPr/>
          <p:nvPr/>
        </p:nvCxnSpPr>
        <p:spPr>
          <a:xfrm>
            <a:off x="968826" y="1107702"/>
            <a:ext cx="12300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55EF8C18-E18B-C7C9-888C-51FDF7BCE21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2012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3800" dirty="0">
                    <a:latin typeface="Georgia" panose="02040502050405020303" pitchFamily="18" charset="0"/>
                  </a:rPr>
                  <a:t>2. </a:t>
                </a:r>
                <a:r>
                  <a:rPr lang="en-US" sz="3800" dirty="0" err="1">
                    <a:latin typeface="Georgia" panose="02040502050405020303" pitchFamily="18" charset="0"/>
                  </a:rPr>
                  <a:t>Rènyi</a:t>
                </a:r>
                <a:r>
                  <a:rPr lang="en-US" sz="3800" dirty="0">
                    <a:latin typeface="Georgia" panose="02040502050405020303" pitchFamily="18" charset="0"/>
                  </a:rPr>
                  <a:t> entropy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4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s-ES" sz="38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ES" sz="3800" i="1">
                        <a:latin typeface="Cambria Math" panose="02040503050406030204" pitchFamily="18" charset="0"/>
                      </a:rPr>
                      <m:t>∈[11, 23]</m:t>
                    </m:r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 odd.</a:t>
                </a:r>
              </a:p>
            </p:txBody>
          </p:sp>
        </mc:Choice>
        <mc:Fallback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55EF8C18-E18B-C7C9-888C-51FDF7BCE2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2012"/>
                <a:ext cx="10515600" cy="1325563"/>
              </a:xfrm>
              <a:blipFill>
                <a:blip r:embed="rId3"/>
                <a:stretch>
                  <a:fillRect l="-2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Imagen 19" descr="Gráfico, Gráfico de líneas&#10;&#10;Descripción generada automáticamente">
            <a:extLst>
              <a:ext uri="{FF2B5EF4-FFF2-40B4-BE49-F238E27FC236}">
                <a16:creationId xmlns:a16="http://schemas.microsoft.com/office/drawing/2014/main" id="{4CE9B8B9-3DA7-E80C-899B-FFC2E6B4A1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828" y="1447575"/>
            <a:ext cx="7075658" cy="471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13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7D68ADE-8647-A290-CE6C-11D0B447186D}"/>
              </a:ext>
            </a:extLst>
          </p:cNvPr>
          <p:cNvCxnSpPr/>
          <p:nvPr/>
        </p:nvCxnSpPr>
        <p:spPr>
          <a:xfrm>
            <a:off x="968826" y="1107702"/>
            <a:ext cx="12300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55EF8C18-E18B-C7C9-888C-51FDF7BCE21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2012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3800" dirty="0">
                    <a:latin typeface="Georgia" panose="02040502050405020303" pitchFamily="18" charset="0"/>
                  </a:rPr>
                  <a:t>2. </a:t>
                </a:r>
                <a:r>
                  <a:rPr lang="en-US" sz="3800" dirty="0" err="1">
                    <a:latin typeface="Georgia" panose="02040502050405020303" pitchFamily="18" charset="0"/>
                  </a:rPr>
                  <a:t>Rènyi</a:t>
                </a:r>
                <a:r>
                  <a:rPr lang="en-US" sz="3800" dirty="0">
                    <a:latin typeface="Georgia" panose="02040502050405020303" pitchFamily="18" charset="0"/>
                  </a:rPr>
                  <a:t> entropy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4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s-ES" sz="38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ES" sz="3800" i="1">
                        <a:latin typeface="Cambria Math" panose="02040503050406030204" pitchFamily="18" charset="0"/>
                      </a:rPr>
                      <m:t>∈[11, 23]</m:t>
                    </m:r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 odd.</a:t>
                </a:r>
              </a:p>
            </p:txBody>
          </p:sp>
        </mc:Choice>
        <mc:Fallback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55EF8C18-E18B-C7C9-888C-51FDF7BCE2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2012"/>
                <a:ext cx="10515600" cy="1325563"/>
              </a:xfrm>
              <a:blipFill>
                <a:blip r:embed="rId3"/>
                <a:stretch>
                  <a:fillRect l="-2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Imagen 32">
            <a:extLst>
              <a:ext uri="{FF2B5EF4-FFF2-40B4-BE49-F238E27FC236}">
                <a16:creationId xmlns:a16="http://schemas.microsoft.com/office/drawing/2014/main" id="{2C5C56CD-E069-C2A1-16A3-86E7E55747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685" y="1478863"/>
            <a:ext cx="7037505" cy="469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00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7D68ADE-8647-A290-CE6C-11D0B447186D}"/>
              </a:ext>
            </a:extLst>
          </p:cNvPr>
          <p:cNvCxnSpPr/>
          <p:nvPr/>
        </p:nvCxnSpPr>
        <p:spPr>
          <a:xfrm>
            <a:off x="968826" y="1107702"/>
            <a:ext cx="12300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55EF8C18-E18B-C7C9-888C-51FDF7BCE21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2012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3800" dirty="0">
                    <a:latin typeface="Georgia" panose="02040502050405020303" pitchFamily="18" charset="0"/>
                  </a:rPr>
                  <a:t>2. </a:t>
                </a:r>
                <a:r>
                  <a:rPr lang="en-US" sz="3800" dirty="0" err="1">
                    <a:latin typeface="Georgia" panose="02040502050405020303" pitchFamily="18" charset="0"/>
                  </a:rPr>
                  <a:t>Rènyi</a:t>
                </a:r>
                <a:r>
                  <a:rPr lang="en-US" sz="3800" dirty="0">
                    <a:latin typeface="Georgia" panose="02040502050405020303" pitchFamily="18" charset="0"/>
                  </a:rPr>
                  <a:t> entropy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4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4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s-ES" sz="38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ES" sz="3800" i="1">
                        <a:latin typeface="Cambria Math" panose="02040503050406030204" pitchFamily="18" charset="0"/>
                      </a:rPr>
                      <m:t>∈[11, 23]</m:t>
                    </m:r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 odd.</a:t>
                </a:r>
              </a:p>
            </p:txBody>
          </p:sp>
        </mc:Choice>
        <mc:Fallback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55EF8C18-E18B-C7C9-888C-51FDF7BCE2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2012"/>
                <a:ext cx="10515600" cy="1325563"/>
              </a:xfrm>
              <a:blipFill>
                <a:blip r:embed="rId3"/>
                <a:stretch>
                  <a:fillRect l="-2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067E7E23-C1F3-E1C8-1C38-F8E2CC0DED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962" y="1411900"/>
            <a:ext cx="7268060" cy="484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320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7D68ADE-8647-A290-CE6C-11D0B447186D}"/>
              </a:ext>
            </a:extLst>
          </p:cNvPr>
          <p:cNvCxnSpPr/>
          <p:nvPr/>
        </p:nvCxnSpPr>
        <p:spPr>
          <a:xfrm>
            <a:off x="968826" y="1107702"/>
            <a:ext cx="12300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55EF8C18-E18B-C7C9-888C-51FDF7BCE21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2012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3800" dirty="0">
                    <a:latin typeface="Georgia" panose="02040502050405020303" pitchFamily="18" charset="0"/>
                  </a:rPr>
                  <a:t>2. </a:t>
                </a:r>
                <a:r>
                  <a:rPr lang="en-US" sz="3800" dirty="0" err="1">
                    <a:latin typeface="Georgia" panose="02040502050405020303" pitchFamily="18" charset="0"/>
                  </a:rPr>
                  <a:t>Rènyi</a:t>
                </a:r>
                <a:r>
                  <a:rPr lang="en-US" sz="3800" dirty="0">
                    <a:latin typeface="Georgia" panose="02040502050405020303" pitchFamily="18" charset="0"/>
                  </a:rPr>
                  <a:t> entropy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4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4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s-ES" sz="38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ES" sz="3800" i="1">
                        <a:latin typeface="Cambria Math" panose="02040503050406030204" pitchFamily="18" charset="0"/>
                      </a:rPr>
                      <m:t>∈[11, 23]</m:t>
                    </m:r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 odd.</a:t>
                </a:r>
              </a:p>
            </p:txBody>
          </p:sp>
        </mc:Choice>
        <mc:Fallback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55EF8C18-E18B-C7C9-888C-51FDF7BCE2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2012"/>
                <a:ext cx="10515600" cy="1325563"/>
              </a:xfrm>
              <a:blipFill>
                <a:blip r:embed="rId3"/>
                <a:stretch>
                  <a:fillRect l="-2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 descr="Gráfico, Gráfico de líneas, Gráfico de dispersión&#10;&#10;Descripción generada automáticamente">
            <a:extLst>
              <a:ext uri="{FF2B5EF4-FFF2-40B4-BE49-F238E27FC236}">
                <a16:creationId xmlns:a16="http://schemas.microsoft.com/office/drawing/2014/main" id="{0314A917-FB4B-F434-8B05-D864DA3BCC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754" y="1581356"/>
            <a:ext cx="7162491" cy="477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686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8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7D68ADE-8647-A290-CE6C-11D0B447186D}"/>
              </a:ext>
            </a:extLst>
          </p:cNvPr>
          <p:cNvCxnSpPr/>
          <p:nvPr/>
        </p:nvCxnSpPr>
        <p:spPr>
          <a:xfrm>
            <a:off x="968826" y="1107702"/>
            <a:ext cx="12300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55EF8C18-E18B-C7C9-888C-51FDF7BCE21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2012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3800" dirty="0">
                    <a:latin typeface="Georgia" panose="02040502050405020303" pitchFamily="18" charset="0"/>
                  </a:rPr>
                  <a:t>2. </a:t>
                </a:r>
                <a:r>
                  <a:rPr lang="en-US" sz="3800" dirty="0" err="1">
                    <a:latin typeface="Georgia" panose="02040502050405020303" pitchFamily="18" charset="0"/>
                  </a:rPr>
                  <a:t>Rènyi</a:t>
                </a:r>
                <a:r>
                  <a:rPr lang="en-US" sz="3800" dirty="0">
                    <a:latin typeface="Georgia" panose="02040502050405020303" pitchFamily="18" charset="0"/>
                  </a:rPr>
                  <a:t> entropy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4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4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.</a:t>
                </a:r>
                <a:r>
                  <a:rPr lang="es-ES" sz="3800" dirty="0"/>
                  <a:t> </a:t>
                </a:r>
                <a14:m>
                  <m:oMath xmlns:m="http://schemas.openxmlformats.org/officeDocument/2006/math">
                    <m:r>
                      <a:rPr lang="es-ES" sz="38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ES" sz="3800" i="1">
                        <a:latin typeface="Cambria Math" panose="02040503050406030204" pitchFamily="18" charset="0"/>
                      </a:rPr>
                      <m:t>∈[11, 23]</m:t>
                    </m:r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 odd.</a:t>
                </a:r>
              </a:p>
            </p:txBody>
          </p:sp>
        </mc:Choice>
        <mc:Fallback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55EF8C18-E18B-C7C9-888C-51FDF7BCE2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2012"/>
                <a:ext cx="10515600" cy="1325563"/>
              </a:xfrm>
              <a:blipFill>
                <a:blip r:embed="rId3"/>
                <a:stretch>
                  <a:fillRect l="-2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E4C308D3-E906-3F38-443E-22D8AC6533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811" y="1458765"/>
            <a:ext cx="7346378" cy="489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485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7D68ADE-8647-A290-CE6C-11D0B447186D}"/>
              </a:ext>
            </a:extLst>
          </p:cNvPr>
          <p:cNvCxnSpPr/>
          <p:nvPr/>
        </p:nvCxnSpPr>
        <p:spPr>
          <a:xfrm>
            <a:off x="968826" y="1107702"/>
            <a:ext cx="12300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824D00FF-2C32-0987-F9FC-8820EC0C6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558" y="1618115"/>
            <a:ext cx="6680416" cy="44536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ítulo 1">
                <a:extLst>
                  <a:ext uri="{FF2B5EF4-FFF2-40B4-BE49-F238E27FC236}">
                    <a16:creationId xmlns:a16="http://schemas.microsoft.com/office/drawing/2014/main" id="{98E27953-74CA-D317-3ABC-61D9F918F4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22012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3800" dirty="0">
                    <a:latin typeface="Georgia" panose="02040502050405020303" pitchFamily="18" charset="0"/>
                  </a:rPr>
                  <a:t>2. Shannon entropy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4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400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s-ES" sz="38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ES" sz="3800" i="1">
                        <a:latin typeface="Cambria Math" panose="02040503050406030204" pitchFamily="18" charset="0"/>
                      </a:rPr>
                      <m:t>∈[11, 23]</m:t>
                    </m:r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 odd.</a:t>
                </a:r>
              </a:p>
            </p:txBody>
          </p:sp>
        </mc:Choice>
        <mc:Fallback>
          <p:sp>
            <p:nvSpPr>
              <p:cNvPr id="4" name="Título 1">
                <a:extLst>
                  <a:ext uri="{FF2B5EF4-FFF2-40B4-BE49-F238E27FC236}">
                    <a16:creationId xmlns:a16="http://schemas.microsoft.com/office/drawing/2014/main" id="{98E27953-74CA-D317-3ABC-61D9F918F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2012"/>
                <a:ext cx="10515600" cy="1325563"/>
              </a:xfrm>
              <a:prstGeom prst="rect">
                <a:avLst/>
              </a:prstGeom>
              <a:blipFill>
                <a:blip r:embed="rId4"/>
                <a:stretch>
                  <a:fillRect l="-2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8686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7D68ADE-8647-A290-CE6C-11D0B447186D}"/>
              </a:ext>
            </a:extLst>
          </p:cNvPr>
          <p:cNvCxnSpPr/>
          <p:nvPr/>
        </p:nvCxnSpPr>
        <p:spPr>
          <a:xfrm>
            <a:off x="968826" y="1107702"/>
            <a:ext cx="12300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55EF8C18-E18B-C7C9-888C-51FDF7BCE21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2012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3800" dirty="0">
                    <a:latin typeface="Georgia" panose="02040502050405020303" pitchFamily="18" charset="0"/>
                  </a:rPr>
                  <a:t>2. Shannon entropy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4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s-ES" sz="38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ES" sz="3800" i="1">
                        <a:latin typeface="Cambria Math" panose="02040503050406030204" pitchFamily="18" charset="0"/>
                      </a:rPr>
                      <m:t>∈[11, 23]</m:t>
                    </m:r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 odd.</a:t>
                </a:r>
              </a:p>
            </p:txBody>
          </p:sp>
        </mc:Choice>
        <mc:Fallback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55EF8C18-E18B-C7C9-888C-51FDF7BCE2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2012"/>
                <a:ext cx="10515600" cy="1325563"/>
              </a:xfrm>
              <a:blipFill>
                <a:blip r:embed="rId3"/>
                <a:stretch>
                  <a:fillRect l="-2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Imagen 19" descr="Gráfico, Gráfico de líneas&#10;&#10;Descripción generada automáticamente">
            <a:extLst>
              <a:ext uri="{FF2B5EF4-FFF2-40B4-BE49-F238E27FC236}">
                <a16:creationId xmlns:a16="http://schemas.microsoft.com/office/drawing/2014/main" id="{4CE9B8B9-3DA7-E80C-899B-FFC2E6B4A1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828" y="1447575"/>
            <a:ext cx="7075658" cy="471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13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11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7D68ADE-8647-A290-CE6C-11D0B447186D}"/>
              </a:ext>
            </a:extLst>
          </p:cNvPr>
          <p:cNvCxnSpPr/>
          <p:nvPr/>
        </p:nvCxnSpPr>
        <p:spPr>
          <a:xfrm>
            <a:off x="968826" y="1107702"/>
            <a:ext cx="12300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Imagen 32">
            <a:extLst>
              <a:ext uri="{FF2B5EF4-FFF2-40B4-BE49-F238E27FC236}">
                <a16:creationId xmlns:a16="http://schemas.microsoft.com/office/drawing/2014/main" id="{2C5C56CD-E069-C2A1-16A3-86E7E5574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685" y="1478863"/>
            <a:ext cx="7037505" cy="469166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ítulo 1">
                <a:extLst>
                  <a:ext uri="{FF2B5EF4-FFF2-40B4-BE49-F238E27FC236}">
                    <a16:creationId xmlns:a16="http://schemas.microsoft.com/office/drawing/2014/main" id="{CAA3BF57-CD22-3446-1F3E-AE8F3FA6F7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22012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3800" dirty="0">
                    <a:latin typeface="Georgia" panose="02040502050405020303" pitchFamily="18" charset="0"/>
                  </a:rPr>
                  <a:t>2. Shannon entropy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4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400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s-ES" sz="38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ES" sz="3800" i="1">
                        <a:latin typeface="Cambria Math" panose="02040503050406030204" pitchFamily="18" charset="0"/>
                      </a:rPr>
                      <m:t>∈[11, 23]</m:t>
                    </m:r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 odd.</a:t>
                </a:r>
              </a:p>
            </p:txBody>
          </p:sp>
        </mc:Choice>
        <mc:Fallback>
          <p:sp>
            <p:nvSpPr>
              <p:cNvPr id="4" name="Título 1">
                <a:extLst>
                  <a:ext uri="{FF2B5EF4-FFF2-40B4-BE49-F238E27FC236}">
                    <a16:creationId xmlns:a16="http://schemas.microsoft.com/office/drawing/2014/main" id="{CAA3BF57-CD22-3446-1F3E-AE8F3FA6F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2012"/>
                <a:ext cx="10515600" cy="1325563"/>
              </a:xfrm>
              <a:prstGeom prst="rect">
                <a:avLst/>
              </a:prstGeom>
              <a:blipFill>
                <a:blip r:embed="rId4"/>
                <a:stretch>
                  <a:fillRect l="-2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8845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12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7D68ADE-8647-A290-CE6C-11D0B447186D}"/>
              </a:ext>
            </a:extLst>
          </p:cNvPr>
          <p:cNvCxnSpPr/>
          <p:nvPr/>
        </p:nvCxnSpPr>
        <p:spPr>
          <a:xfrm>
            <a:off x="968826" y="1107702"/>
            <a:ext cx="12300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ítulo 1">
                <a:extLst>
                  <a:ext uri="{FF2B5EF4-FFF2-40B4-BE49-F238E27FC236}">
                    <a16:creationId xmlns:a16="http://schemas.microsoft.com/office/drawing/2014/main" id="{98E27953-74CA-D317-3ABC-61D9F918F4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22012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3800" dirty="0">
                    <a:latin typeface="Georgia" panose="02040502050405020303" pitchFamily="18" charset="0"/>
                  </a:rPr>
                  <a:t>2. Shannon entropy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4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s-ES" sz="38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ES" sz="3800" i="1">
                        <a:latin typeface="Cambria Math" panose="02040503050406030204" pitchFamily="18" charset="0"/>
                      </a:rPr>
                      <m:t>∈[11, 23]</m:t>
                    </m:r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 odd.</a:t>
                </a:r>
              </a:p>
            </p:txBody>
          </p:sp>
        </mc:Choice>
        <mc:Fallback>
          <p:sp>
            <p:nvSpPr>
              <p:cNvPr id="4" name="Título 1">
                <a:extLst>
                  <a:ext uri="{FF2B5EF4-FFF2-40B4-BE49-F238E27FC236}">
                    <a16:creationId xmlns:a16="http://schemas.microsoft.com/office/drawing/2014/main" id="{98E27953-74CA-D317-3ABC-61D9F918F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2012"/>
                <a:ext cx="10515600" cy="1325563"/>
              </a:xfrm>
              <a:prstGeom prst="rect">
                <a:avLst/>
              </a:prstGeom>
              <a:blipFill>
                <a:blip r:embed="rId3"/>
                <a:stretch>
                  <a:fillRect l="-2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2978E2A8-464F-B43E-26F4-F8730E35D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447575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704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13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7D68ADE-8647-A290-CE6C-11D0B447186D}"/>
              </a:ext>
            </a:extLst>
          </p:cNvPr>
          <p:cNvCxnSpPr/>
          <p:nvPr/>
        </p:nvCxnSpPr>
        <p:spPr>
          <a:xfrm>
            <a:off x="968826" y="1107702"/>
            <a:ext cx="12300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55EF8C18-E18B-C7C9-888C-51FDF7BCE21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2012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3800" dirty="0">
                    <a:latin typeface="Georgia" panose="02040502050405020303" pitchFamily="18" charset="0"/>
                  </a:rPr>
                  <a:t>2. Shannon entropy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4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s-ES" sz="38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ES" sz="3800" i="1">
                        <a:latin typeface="Cambria Math" panose="02040503050406030204" pitchFamily="18" charset="0"/>
                      </a:rPr>
                      <m:t>∈[11, 23]</m:t>
                    </m:r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 odd.</a:t>
                </a:r>
              </a:p>
            </p:txBody>
          </p:sp>
        </mc:Choice>
        <mc:Fallback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55EF8C18-E18B-C7C9-888C-51FDF7BCE2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2012"/>
                <a:ext cx="10515600" cy="1325563"/>
              </a:xfrm>
              <a:blipFill>
                <a:blip r:embed="rId3"/>
                <a:stretch>
                  <a:fillRect l="-2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5236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14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7D68ADE-8647-A290-CE6C-11D0B447186D}"/>
              </a:ext>
            </a:extLst>
          </p:cNvPr>
          <p:cNvCxnSpPr/>
          <p:nvPr/>
        </p:nvCxnSpPr>
        <p:spPr>
          <a:xfrm>
            <a:off x="968826" y="1107702"/>
            <a:ext cx="12300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ítulo 1">
                <a:extLst>
                  <a:ext uri="{FF2B5EF4-FFF2-40B4-BE49-F238E27FC236}">
                    <a16:creationId xmlns:a16="http://schemas.microsoft.com/office/drawing/2014/main" id="{CAA3BF57-CD22-3446-1F3E-AE8F3FA6F7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22012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3800" dirty="0">
                    <a:latin typeface="Georgia" panose="02040502050405020303" pitchFamily="18" charset="0"/>
                  </a:rPr>
                  <a:t>2. Shannon entropy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4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s-ES" sz="38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ES" sz="3800" i="1">
                        <a:latin typeface="Cambria Math" panose="02040503050406030204" pitchFamily="18" charset="0"/>
                      </a:rPr>
                      <m:t>∈[11, 23]</m:t>
                    </m:r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 odd.</a:t>
                </a:r>
              </a:p>
            </p:txBody>
          </p:sp>
        </mc:Choice>
        <mc:Fallback>
          <p:sp>
            <p:nvSpPr>
              <p:cNvPr id="4" name="Título 1">
                <a:extLst>
                  <a:ext uri="{FF2B5EF4-FFF2-40B4-BE49-F238E27FC236}">
                    <a16:creationId xmlns:a16="http://schemas.microsoft.com/office/drawing/2014/main" id="{CAA3BF57-CD22-3446-1F3E-AE8F3FA6F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2012"/>
                <a:ext cx="10515600" cy="1325563"/>
              </a:xfrm>
              <a:prstGeom prst="rect">
                <a:avLst/>
              </a:prstGeom>
              <a:blipFill>
                <a:blip r:embed="rId3"/>
                <a:stretch>
                  <a:fillRect l="-2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8956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15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7D68ADE-8647-A290-CE6C-11D0B447186D}"/>
              </a:ext>
            </a:extLst>
          </p:cNvPr>
          <p:cNvCxnSpPr/>
          <p:nvPr/>
        </p:nvCxnSpPr>
        <p:spPr>
          <a:xfrm>
            <a:off x="968826" y="1107702"/>
            <a:ext cx="12300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ítulo 1">
                <a:extLst>
                  <a:ext uri="{FF2B5EF4-FFF2-40B4-BE49-F238E27FC236}">
                    <a16:creationId xmlns:a16="http://schemas.microsoft.com/office/drawing/2014/main" id="{98E27953-74CA-D317-3ABC-61D9F918F4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22012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3800" dirty="0">
                    <a:latin typeface="Georgia" panose="02040502050405020303" pitchFamily="18" charset="0"/>
                  </a:rPr>
                  <a:t>2. Shannon entropy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4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4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s-ES" sz="38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ES" sz="3800" i="1">
                        <a:latin typeface="Cambria Math" panose="02040503050406030204" pitchFamily="18" charset="0"/>
                      </a:rPr>
                      <m:t>∈[11, 23]</m:t>
                    </m:r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 odd.</a:t>
                </a:r>
              </a:p>
            </p:txBody>
          </p:sp>
        </mc:Choice>
        <mc:Fallback>
          <p:sp>
            <p:nvSpPr>
              <p:cNvPr id="4" name="Título 1">
                <a:extLst>
                  <a:ext uri="{FF2B5EF4-FFF2-40B4-BE49-F238E27FC236}">
                    <a16:creationId xmlns:a16="http://schemas.microsoft.com/office/drawing/2014/main" id="{98E27953-74CA-D317-3ABC-61D9F918F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2012"/>
                <a:ext cx="10515600" cy="1325563"/>
              </a:xfrm>
              <a:prstGeom prst="rect">
                <a:avLst/>
              </a:prstGeom>
              <a:blipFill>
                <a:blip r:embed="rId3"/>
                <a:stretch>
                  <a:fillRect l="-2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053D490C-32BF-ECA9-F491-AE5A2E1C8C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447575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5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16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7D68ADE-8647-A290-CE6C-11D0B447186D}"/>
              </a:ext>
            </a:extLst>
          </p:cNvPr>
          <p:cNvCxnSpPr/>
          <p:nvPr/>
        </p:nvCxnSpPr>
        <p:spPr>
          <a:xfrm>
            <a:off x="968826" y="1107702"/>
            <a:ext cx="12300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55EF8C18-E18B-C7C9-888C-51FDF7BCE21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2012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3800" dirty="0">
                    <a:latin typeface="Georgia" panose="02040502050405020303" pitchFamily="18" charset="0"/>
                  </a:rPr>
                  <a:t>2. Shannon entropy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4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4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s-ES" sz="38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ES" sz="3800" i="1">
                        <a:latin typeface="Cambria Math" panose="02040503050406030204" pitchFamily="18" charset="0"/>
                      </a:rPr>
                      <m:t>∈[11, 23]</m:t>
                    </m:r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 odd.</a:t>
                </a:r>
              </a:p>
            </p:txBody>
          </p:sp>
        </mc:Choice>
        <mc:Fallback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55EF8C18-E18B-C7C9-888C-51FDF7BCE2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2012"/>
                <a:ext cx="10515600" cy="1325563"/>
              </a:xfrm>
              <a:blipFill>
                <a:blip r:embed="rId3"/>
                <a:stretch>
                  <a:fillRect l="-2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9D1F4730-2964-8AD5-5A07-6A8655940C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912" y="1447575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11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A6D5-4E3D-4EE5-8494-6B99A6CC0FF5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17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7D68ADE-8647-A290-CE6C-11D0B447186D}"/>
              </a:ext>
            </a:extLst>
          </p:cNvPr>
          <p:cNvCxnSpPr/>
          <p:nvPr/>
        </p:nvCxnSpPr>
        <p:spPr>
          <a:xfrm>
            <a:off x="968826" y="1107702"/>
            <a:ext cx="12300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ítulo 1">
                <a:extLst>
                  <a:ext uri="{FF2B5EF4-FFF2-40B4-BE49-F238E27FC236}">
                    <a16:creationId xmlns:a16="http://schemas.microsoft.com/office/drawing/2014/main" id="{CAA3BF57-CD22-3446-1F3E-AE8F3FA6F7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22012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3800" dirty="0">
                    <a:latin typeface="Georgia" panose="02040502050405020303" pitchFamily="18" charset="0"/>
                  </a:rPr>
                  <a:t>2. Shannon entropy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4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4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s-ES" sz="38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ES" sz="3800" i="1">
                        <a:latin typeface="Cambria Math" panose="02040503050406030204" pitchFamily="18" charset="0"/>
                      </a:rPr>
                      <m:t>∈[11, 23]</m:t>
                    </m:r>
                  </m:oMath>
                </a14:m>
                <a:r>
                  <a:rPr lang="en-US" sz="3800" dirty="0">
                    <a:latin typeface="Georgia" panose="02040502050405020303" pitchFamily="18" charset="0"/>
                  </a:rPr>
                  <a:t> odd.</a:t>
                </a:r>
              </a:p>
            </p:txBody>
          </p:sp>
        </mc:Choice>
        <mc:Fallback>
          <p:sp>
            <p:nvSpPr>
              <p:cNvPr id="4" name="Título 1">
                <a:extLst>
                  <a:ext uri="{FF2B5EF4-FFF2-40B4-BE49-F238E27FC236}">
                    <a16:creationId xmlns:a16="http://schemas.microsoft.com/office/drawing/2014/main" id="{CAA3BF57-CD22-3446-1F3E-AE8F3FA6F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2012"/>
                <a:ext cx="10515600" cy="1325563"/>
              </a:xfrm>
              <a:prstGeom prst="rect">
                <a:avLst/>
              </a:prstGeom>
              <a:blipFill>
                <a:blip r:embed="rId3"/>
                <a:stretch>
                  <a:fillRect l="-2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968C487E-B6D0-E91F-91A0-10683A2257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963" y="1357312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819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/>
          <p:cNvCxnSpPr/>
          <p:nvPr/>
        </p:nvCxnSpPr>
        <p:spPr>
          <a:xfrm flipV="1">
            <a:off x="1092530" y="3368075"/>
            <a:ext cx="99040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/>
          <p:cNvCxnSpPr/>
          <p:nvPr/>
        </p:nvCxnSpPr>
        <p:spPr>
          <a:xfrm flipV="1">
            <a:off x="1092529" y="1204768"/>
            <a:ext cx="99040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/>
          <p:cNvSpPr txBox="1"/>
          <p:nvPr/>
        </p:nvSpPr>
        <p:spPr>
          <a:xfrm>
            <a:off x="3411185" y="3628103"/>
            <a:ext cx="5266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dirty="0">
                <a:latin typeface="Georgia" panose="02040502050405020303" pitchFamily="18" charset="0"/>
              </a:rPr>
              <a:t>Jesús Cobos Jiménez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3188523" y="4850253"/>
            <a:ext cx="5712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Georgia" panose="02040502050405020303" pitchFamily="18" charset="0"/>
              </a:rPr>
              <a:t>Universidad del País Vasco/</a:t>
            </a:r>
          </a:p>
          <a:p>
            <a:pPr algn="ctr"/>
            <a:r>
              <a:rPr lang="eu-ES" i="1" dirty="0">
                <a:latin typeface="Georgia" panose="02040502050405020303" pitchFamily="18" charset="0"/>
              </a:rPr>
              <a:t>Euskal Herriko Unibertsitatea</a:t>
            </a:r>
          </a:p>
        </p:txBody>
      </p:sp>
      <p:pic>
        <p:nvPicPr>
          <p:cNvPr id="9" name="Imagen 8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2F3D5D3-094B-D483-DD9A-99D8114848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105" y="5683681"/>
            <a:ext cx="2591790" cy="55002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71FCD37-7F30-60B8-BEBD-11E77C94FC2E}"/>
              </a:ext>
            </a:extLst>
          </p:cNvPr>
          <p:cNvSpPr txBox="1"/>
          <p:nvPr/>
        </p:nvSpPr>
        <p:spPr>
          <a:xfrm>
            <a:off x="3299476" y="4326647"/>
            <a:ext cx="5601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latin typeface="Georgia" panose="02040502050405020303" pitchFamily="18" charset="0"/>
              </a:rPr>
              <a:t>12/03/24</a:t>
            </a:r>
            <a:endParaRPr lang="en-US" sz="2400" dirty="0">
              <a:latin typeface="Georgia" panose="02040502050405020303" pitchFamily="18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AAFB680-132A-C762-126D-2AD5234903CB}"/>
              </a:ext>
            </a:extLst>
          </p:cNvPr>
          <p:cNvSpPr txBox="1">
            <a:spLocks/>
          </p:cNvSpPr>
          <p:nvPr/>
        </p:nvSpPr>
        <p:spPr>
          <a:xfrm>
            <a:off x="819399" y="1266137"/>
            <a:ext cx="10450284" cy="1954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>
                <a:latin typeface="Georgia" panose="02040502050405020303" pitchFamily="18" charset="0"/>
              </a:rPr>
              <a:t>Entropies plots</a:t>
            </a:r>
            <a:endParaRPr lang="en-US" sz="8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04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11321</TotalTime>
  <Words>413</Words>
  <Application>Microsoft Macintosh PowerPoint</Application>
  <PresentationFormat>Panorámica</PresentationFormat>
  <Paragraphs>78</Paragraphs>
  <Slides>18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Georgia</vt:lpstr>
      <vt:lpstr>Tema de Office</vt:lpstr>
      <vt:lpstr>Entropies plots</vt:lpstr>
      <vt:lpstr>1. Recap of what I was doing</vt:lpstr>
      <vt:lpstr>2. Rènyi entropy H_-. L∈[11, 23] odd.</vt:lpstr>
      <vt:lpstr>2. Rènyi entropy H_-. L∈[11, 23] odd.</vt:lpstr>
      <vt:lpstr>2. Rènyi entropy H_-. L∈[11, 23] odd.</vt:lpstr>
      <vt:lpstr>2. Rènyi entropy H_+. L∈[11, 23] odd.</vt:lpstr>
      <vt:lpstr>2. Rènyi entropy H_+. L∈[11, 23] odd.</vt:lpstr>
      <vt:lpstr>2. Rènyi entropy H_+. L∈[11, 23] odd.</vt:lpstr>
      <vt:lpstr>Presentación de PowerPoint</vt:lpstr>
      <vt:lpstr>2. Shannon entropy H_-. L∈[11, 23] odd.</vt:lpstr>
      <vt:lpstr>Presentación de PowerPoint</vt:lpstr>
      <vt:lpstr>Presentación de PowerPoint</vt:lpstr>
      <vt:lpstr>2. Shannon entropy H_-. L∈[11, 23] odd.</vt:lpstr>
      <vt:lpstr>Presentación de PowerPoint</vt:lpstr>
      <vt:lpstr>Presentación de PowerPoint</vt:lpstr>
      <vt:lpstr>2. Shannon entropy H_+. L∈[11, 23] odd.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on quantum filters</dc:title>
  <dc:creator>Cobos</dc:creator>
  <cp:lastModifiedBy>Jesus COBOS</cp:lastModifiedBy>
  <cp:revision>555</cp:revision>
  <dcterms:created xsi:type="dcterms:W3CDTF">2022-09-07T15:29:25Z</dcterms:created>
  <dcterms:modified xsi:type="dcterms:W3CDTF">2024-03-12T17:49:55Z</dcterms:modified>
</cp:coreProperties>
</file>